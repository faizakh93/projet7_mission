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  <c:spPr>
                    <a:solidFill>
                      <a:srgbClr/>
                    </a:solidFill>
                  </c:spPr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Annotation humaine</c:v>
                </c:pt>
                <c:pt idx="1">
                  <c:v>Infrastructure GPU</c:v>
                </c:pt>
                <c:pt idx="2">
                  <c:v>Outils &amp; gestion</c:v>
                </c:pt>
                <c:pt idx="3">
                  <c:v>Marge &amp; imprévus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</c:v>
                </c:pt>
                <c:pt idx="1">
                  <c:v>1000</c:v>
                </c:pt>
                <c:pt idx="2">
                  <c:v>600</c:v>
                </c:pt>
                <c:pt idx="3">
                  <c:v>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0" y="548640"/>
            <a:ext cx="3108960" cy="3108960"/>
          </a:xfrm>
          <a:prstGeom prst="roundRect">
            <a:avLst/>
          </a:prstGeom>
          <a:solidFill>
            <a:srgbClr val="1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8229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BrainScanAI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B8C9E0"/>
                </a:solidFill>
                <a:latin typeface="Calibri"/>
              </a:rPr>
              <a:t>Détection de tumeurs cérébrales par 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CC2"/>
                </a:solidFill>
                <a:latin typeface="Calibri"/>
              </a:rPr>
              <a:t>Transfer learning  ·  Clustering  ·  Semi-supervision  ·  Active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2286000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0789A"/>
                </a:solidFill>
                <a:latin typeface="Calibri"/>
              </a:rPr>
              <a:t>Projet 7  ·  Formation 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Le jeu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291840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1 506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E0"/>
                </a:solidFill>
                <a:latin typeface="Calibri"/>
              </a:rPr>
              <a:t>images IRM totales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A5A5A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3291840" cy="11887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100  labellisées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50 cancer + 50 normal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383280"/>
            <a:ext cx="3291840" cy="118872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49300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1 406  sans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93 % du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451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5A5A5A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1508760" cy="9601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80
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5120640"/>
            <a:ext cx="1508760" cy="9601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5166360"/>
            <a:ext cx="1508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Calibri"/>
              </a:rPr>
              <a:t>20
test 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303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★ Figé avant tout traitement — aucune fuite de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63040"/>
            <a:ext cx="39776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Images 512×512, RGB (visuellement en niveaux de gris)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Annotation médicale experte : coûteuse et rare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Objectif : exploiter les 1 406 images non labellisées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Pipeline — 4 étapes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331720" cy="2286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100">
                <a:solidFill>
                  <a:srgbClr val="AACCEE"/>
                </a:solidFill>
                <a:latin typeface="Calibri"/>
              </a:rPr>
              <a:t>Étape 1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Exploration</a:t>
            </a:r>
          </a:p>
          <a:p>
            <a:pPr algn="ctr"/>
            <a:r>
              <a:rPr sz="1300">
                <a:solidFill>
                  <a:srgbClr val="CCE4F5"/>
                </a:solidFill>
                <a:latin typeface="Calibri"/>
              </a:rPr>
              <a:t>1 506 images
stats pixels</a:t>
            </a:r>
          </a:p>
        </p:txBody>
      </p:sp>
      <p:sp>
        <p:nvSpPr>
          <p:cNvPr id="5" name="Can 4"/>
          <p:cNvSpPr/>
          <p:nvPr/>
        </p:nvSpPr>
        <p:spPr>
          <a:xfrm>
            <a:off x="2953512" y="260604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37560" y="1600200"/>
            <a:ext cx="233172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100">
                <a:solidFill>
                  <a:srgbClr val="AACCEE"/>
                </a:solidFill>
                <a:latin typeface="Calibri"/>
              </a:rPr>
              <a:t>Étape 2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Features
ResNet50</a:t>
            </a:r>
          </a:p>
          <a:p>
            <a:pPr algn="ctr"/>
            <a:r>
              <a:rPr sz="1300">
                <a:solidFill>
                  <a:srgbClr val="CCE4F5"/>
                </a:solidFill>
                <a:latin typeface="Calibri"/>
              </a:rPr>
              <a:t>Matrice
1506 × 2048</a:t>
            </a:r>
          </a:p>
        </p:txBody>
      </p:sp>
      <p:sp>
        <p:nvSpPr>
          <p:cNvPr id="7" name="Can 6"/>
          <p:cNvSpPr/>
          <p:nvPr/>
        </p:nvSpPr>
        <p:spPr>
          <a:xfrm>
            <a:off x="5788152" y="260604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2331720" cy="2286000"/>
          </a:xfrm>
          <a:prstGeom prst="roundRect">
            <a:avLst/>
          </a:prstGeom>
          <a:solidFill>
            <a:srgbClr val="15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100">
                <a:solidFill>
                  <a:srgbClr val="AACCEE"/>
                </a:solidFill>
                <a:latin typeface="Calibri"/>
              </a:rPr>
              <a:t>Étape 3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Clustering
DBSCAN</a:t>
            </a:r>
          </a:p>
          <a:p>
            <a:pPr algn="ctr"/>
            <a:r>
              <a:rPr sz="1300">
                <a:solidFill>
                  <a:srgbClr val="CCE4F5"/>
                </a:solidFill>
                <a:latin typeface="Calibri"/>
              </a:rPr>
              <a:t>Weak labels
→ 1 486 images</a:t>
            </a:r>
          </a:p>
        </p:txBody>
      </p:sp>
      <p:sp>
        <p:nvSpPr>
          <p:cNvPr id="9" name="Can 8"/>
          <p:cNvSpPr/>
          <p:nvPr/>
        </p:nvSpPr>
        <p:spPr>
          <a:xfrm>
            <a:off x="8622792" y="260604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1600200"/>
            <a:ext cx="2331720" cy="2286000"/>
          </a:xfrm>
          <a:prstGeom prst="roundRect">
            <a:avLst/>
          </a:prstGeom>
          <a:solidFill>
            <a:srgbClr val="7B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100">
                <a:solidFill>
                  <a:srgbClr val="AACCEE"/>
                </a:solidFill>
                <a:latin typeface="Calibri"/>
              </a:rPr>
              <a:t>Étape 4</a:t>
            </a:r>
          </a:p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Modèles
A / B / C</a:t>
            </a:r>
          </a:p>
          <a:p>
            <a:pPr algn="ctr"/>
            <a:r>
              <a:rPr sz="1300">
                <a:solidFill>
                  <a:srgbClr val="CCE4F5"/>
                </a:solidFill>
                <a:latin typeface="Calibri"/>
              </a:rPr>
              <a:t>Accuracy
F2  ·  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IN : images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OUT : metadata.csv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77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IN : 1 506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15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OUT : matrice 1506×2048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IN : features ResNet50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15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OUT : weak labels DBSCAN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9776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IN : features +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315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OUT : .pth + métriques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Étape 2 — Transfer learning (ResNet50)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ResNet50 pré-entraîné ImageNet, poids gelés — aucun coût en labels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Couche fc remplacée par nn.Identity() → vecteur de 2 048 features / image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Applicable aux 1 506 images (y compris sans label)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1B2A4A"/>
                </a:solidFill>
                <a:latin typeface="Calibri"/>
              </a:rPr>
              <a:t>• Augmentation : 9 transformations × 80 images train → 720 images supplémentaires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468880"/>
            <a:ext cx="1371600" cy="118872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Image IRM
224×224</a:t>
            </a:r>
          </a:p>
        </p:txBody>
      </p:sp>
      <p:sp>
        <p:nvSpPr>
          <p:cNvPr id="6" name="Can 5"/>
          <p:cNvSpPr/>
          <p:nvPr/>
        </p:nvSpPr>
        <p:spPr>
          <a:xfrm>
            <a:off x="7699248" y="2944368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19288" y="2468880"/>
            <a:ext cx="1371600" cy="11887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ResNet50
(gelé)</a:t>
            </a:r>
          </a:p>
        </p:txBody>
      </p:sp>
      <p:sp>
        <p:nvSpPr>
          <p:cNvPr id="8" name="Can 7"/>
          <p:cNvSpPr/>
          <p:nvPr/>
        </p:nvSpPr>
        <p:spPr>
          <a:xfrm>
            <a:off x="9409176" y="2944368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2468880"/>
            <a:ext cx="1371600" cy="11887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2 048
features</a:t>
            </a:r>
          </a:p>
        </p:txBody>
      </p:sp>
      <p:sp>
        <p:nvSpPr>
          <p:cNvPr id="10" name="Can 9"/>
          <p:cNvSpPr/>
          <p:nvPr/>
        </p:nvSpPr>
        <p:spPr>
          <a:xfrm>
            <a:off x="11119104" y="2944368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9144" y="2468880"/>
            <a:ext cx="1371600" cy="1188720"/>
          </a:xfrm>
          <a:prstGeom prst="roundRect">
            <a:avLst/>
          </a:prstGeom>
          <a:solidFill>
            <a:srgbClr val="7B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MLP</a:t>
            </a:r>
          </a:p>
        </p:txBody>
      </p:sp>
      <p:sp>
        <p:nvSpPr>
          <p:cNvPr id="12" name="Can 11"/>
          <p:cNvSpPr/>
          <p:nvPr/>
        </p:nvSpPr>
        <p:spPr>
          <a:xfrm>
            <a:off x="12829032" y="2944368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149072" y="2468880"/>
            <a:ext cx="13716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cancer
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303520"/>
            <a:ext cx="5943600" cy="73152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39496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B2A4A"/>
                </a:solidFill>
                <a:latin typeface="Calibri"/>
              </a:rPr>
              <a:t>Augmentation : flip · rotation ±10°/±20° · zoom · luminosité · bruit gaussien → 9 transforms × 80 = 720 images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Étape 3 — Réduction de dimension (PCA · UMAP · t-SNE)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PCA : 2048 → 150 dims   |   UMAP &amp; t-SNE : 150 → 2 dims</a:t>
            </a:r>
          </a:p>
        </p:txBody>
      </p:sp>
      <p:pic>
        <p:nvPicPr>
          <p:cNvPr id="5" name="Picture 4" descr="dimensionality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Les features ResNet50 montrent déjà une structure : les deux classes commencent à se distinguer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Étape 3 — Clustering &amp; génération de labels faibles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Calibri"/>
              </a:rPr>
              <a:t>K-Means (K=2)  vs  DBSCAN — évalués par ARI sur les 80 images train labellisées</a:t>
            </a:r>
          </a:p>
        </p:txBody>
      </p:sp>
      <p:pic>
        <p:nvPicPr>
          <p:cNvPr id="5" name="Picture 4" descr="cluster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6144768"/>
            <a:ext cx="3749039" cy="548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190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K-Means   ARI = 0,29  ·  silhouette = 0,56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6144768"/>
            <a:ext cx="3749039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6190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DBSCAN   ARI = 0,31  ·  5 clusters + 9 bruit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6144768"/>
            <a:ext cx="3749039" cy="548640"/>
          </a:xfrm>
          <a:prstGeom prst="round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6190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Bruit DBSCAN → label "cancer" (FP &lt; FN médical)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Étape 4 — 3 modèles comparés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914400" cy="822960"/>
          </a:xfrm>
          <a:prstGeom prst="roundRect">
            <a:avLst/>
          </a:prstGeom>
          <a:solidFill>
            <a:srgbClr val="374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2 048</a:t>
            </a:r>
          </a:p>
        </p:txBody>
      </p:sp>
      <p:sp>
        <p:nvSpPr>
          <p:cNvPr id="5" name="Can 4"/>
          <p:cNvSpPr/>
          <p:nvPr/>
        </p:nvSpPr>
        <p:spPr>
          <a:xfrm>
            <a:off x="1417320" y="173736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64792" y="1371600"/>
            <a:ext cx="1965960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512
BN · ReLU · Drop(0,4)</a:t>
            </a:r>
          </a:p>
        </p:txBody>
      </p:sp>
      <p:sp>
        <p:nvSpPr>
          <p:cNvPr id="7" name="Can 6"/>
          <p:cNvSpPr/>
          <p:nvPr/>
        </p:nvSpPr>
        <p:spPr>
          <a:xfrm>
            <a:off x="3730752" y="173736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78224" y="1371600"/>
            <a:ext cx="19659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128
BN · ReLU · Drop(0,3)</a:t>
            </a:r>
          </a:p>
        </p:txBody>
      </p:sp>
      <p:sp>
        <p:nvSpPr>
          <p:cNvPr id="9" name="Can 8"/>
          <p:cNvSpPr/>
          <p:nvPr/>
        </p:nvSpPr>
        <p:spPr>
          <a:xfrm>
            <a:off x="6044184" y="1737360"/>
            <a:ext cx="320040" cy="228600"/>
          </a:xfrm>
          <a:prstGeom prst="can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656" y="1371600"/>
            <a:ext cx="1188720" cy="8229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
cancer /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Architecture MLP commune  —  ~1,1 M paramètres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3749039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Modèle A
Supervisé pur</a:t>
            </a:r>
          </a:p>
          <a:p>
            <a:pPr algn="l"/>
            <a:r>
              <a:rPr sz="1500">
                <a:solidFill>
                  <a:srgbClr val="CCE4F5"/>
                </a:solidFill>
                <a:latin typeface="Calibri"/>
              </a:rPr>
              <a:t>
80 images
(labels vrais)
100 epochs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834640"/>
            <a:ext cx="3749039" cy="36576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Modèle B
Semi-sup. DBSCAN</a:t>
            </a:r>
          </a:p>
          <a:p>
            <a:pPr algn="l"/>
            <a:r>
              <a:rPr sz="1500">
                <a:solidFill>
                  <a:srgbClr val="CCE4F5"/>
                </a:solidFill>
                <a:latin typeface="Calibri"/>
              </a:rPr>
              <a:t>
Phase 1 : 1 486 images
(vrais + weak DBSCAN)
Phase 2 : fine-tuning
80 images, LR × 0,1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834640"/>
            <a:ext cx="3749039" cy="3657600"/>
          </a:xfrm>
          <a:prstGeom prst="roundRect">
            <a:avLst/>
          </a:prstGeom>
          <a:solidFill>
            <a:srgbClr val="7B1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Modèle C
DBSCAN + augmentation</a:t>
            </a:r>
          </a:p>
          <a:p>
            <a:pPr algn="l"/>
            <a:r>
              <a:rPr sz="1500">
                <a:solidFill>
                  <a:srgbClr val="CCE4F5"/>
                </a:solidFill>
                <a:latin typeface="Calibri"/>
              </a:rPr>
              <a:t>
Phase 1 : ~2 206 images
(weak + 720 augmentées)
Phase 2 : fine-tuning
80 images, LR × 0,1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Métriques d'évaluation — choix médical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749039" cy="5074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5603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Vue globale
de la performance
Fraction de
prédictions correctes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749039" cy="5074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F2-score
β =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5603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974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Rappel pondéré
2× vs précision
Pénalise fortement
les faux négatifs
→ Un cancer manqué
   est plus grave
   qu'une fausse alerte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749039" cy="5074920"/>
          </a:xfrm>
          <a:prstGeom prst="roundRect">
            <a:avLst/>
          </a:prstGeom>
          <a:solidFill>
            <a:srgbClr val="00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5603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6974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Qualité du
classement probabiliste
Indépendant du seuil
de décision
→ Mesure si le modèle
   sait qu'une image
   est à risque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Résultats — courbes d'apprentissage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alibri"/>
              </a:rPr>
              <a:t>Transition Phase 1 → Phase 2 : choc de distribution visible sur le modèle B (labels faibles → 80 vraies images)</a:t>
            </a:r>
          </a:p>
        </p:txBody>
      </p:sp>
      <p:pic>
        <p:nvPicPr>
          <p:cNvPr id="5" name="Picture 4" descr="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Modèle C : transition plus douce — les images augmentées (vrais labels) en phase 1 préparent le fine-tuning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Résultats — comparaison des 3 modèles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6583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1188720"/>
              </a:tblGrid>
              <a:tr h="5257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F2-score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A — Supervisé pur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0.8974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B — Semi-sup. 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0.85 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0.8440 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0.94 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C — DBSCAN + augmentation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0.90  =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0.8974  =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2A4A"/>
                          </a:solidFill>
                        </a:rPr>
                        <a:t>0.93  ▼</a:t>
                      </a:r>
                    </a:p>
                  </a:txBody>
                  <a:tcPr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463040"/>
            <a:ext cx="1463040" cy="2103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9659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
meilleur
globalement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51392" y="1463040"/>
            <a:ext cx="1463040" cy="21031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1392" y="19659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
weak labels
seuls &lt;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79024" y="1463040"/>
            <a:ext cx="1463040" cy="2103120"/>
          </a:xfrm>
          <a:prstGeom prst="roundRect">
            <a:avLst/>
          </a:prstGeom>
          <a:solidFill>
            <a:srgbClr val="00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9024" y="19659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
rattrape A
en Acc/F2</a:t>
            </a:r>
          </a:p>
        </p:txBody>
      </p:sp>
      <p:pic>
        <p:nvPicPr>
          <p:cNvPr id="11" name="Picture 10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03320"/>
            <a:ext cx="1143000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A5A5A"/>
                </a:solidFill>
              </a:rPr>
              <a:t>Test set de 20 images — chaque image = 5 % du score : résultats à interpréter avec prudence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Limites de l'étude actuelle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3749039" cy="5029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20 images
de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7889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Chaque image = 5 %
du score
→ résultats fragiles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749039" cy="5029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ARI modéré
0,29 – 0,31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7889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Clusters DBSCAN ne
recoupent qu'imparfaitement
les vraies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63040"/>
            <a:ext cx="3749039" cy="5029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Labels faibles
bruités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2788920"/>
            <a:ext cx="3200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92608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Modèle B &lt; Modèle A
→ volume ne compense
pas la qualité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Passage à l'échelle — Le diagnostic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3383280" cy="5120640"/>
          </a:xfrm>
          <a:prstGeom prst="roundRect">
            <a:avLst/>
          </a:prstGeom>
          <a:solidFill>
            <a:srgbClr val="1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Objectif industriel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Labelliser 4 000 000 d'images IRM
avec un budget de 5 000 €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88920"/>
            <a:ext cx="2834640" cy="25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Contraintes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◆  Qualité médicale élevée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◆  Budget limité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◆  Délais raisonnables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◆  Traçabilité &amp; reproductibilité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5544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E86AB"/>
                </a:solidFill>
                <a:latin typeface="Calibri"/>
              </a:rPr>
              <a:t>5 000 €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÷  4 000 000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926080"/>
            <a:ext cx="4114800" cy="25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0175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62828"/>
                </a:solidFill>
                <a:latin typeface="Calibri"/>
              </a:rPr>
              <a:t>= 0,00125 € /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C9E0"/>
                </a:solidFill>
                <a:latin typeface="Calibri"/>
              </a:rPr>
              <a:t>Coût réel estimé / image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574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Expert médical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011680"/>
            <a:ext cx="310896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0,5 – 2 €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Crowdsourcing + QC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788920"/>
            <a:ext cx="1371600" cy="41148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2144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0,05 – 0,10 €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11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Budget dispo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566160"/>
            <a:ext cx="54864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04704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0,00125 €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440679"/>
            <a:ext cx="11612880" cy="777240"/>
          </a:xfrm>
          <a:prstGeom prst="roundRect">
            <a:avLst/>
          </a:prstGeom>
          <a:solidFill>
            <a:srgbClr val="2E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32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4F5"/>
                </a:solidFill>
                <a:latin typeface="Calibri"/>
              </a:rPr>
              <a:t>💡 Enseignement du projet : le Modèle B (weak labels seuls) sous-performe le Modèle A → la qualité des labels prime sur le volume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Stratégie — Labelliser moins, mais mieux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5029200" cy="685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Hypothèse clé : semi-supervision + active learning = labelliser 5-10 % pour étiqueter 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4 000 000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51760"/>
            <a:ext cx="502920" cy="3474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502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5-10 %
~200k à
400k
images
labellisées
par humain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51760"/>
            <a:ext cx="4389120" cy="34747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90-95 %
3,6 M à 3,8 M images
étiquetées par le modèle
(semi-supervision)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371600"/>
            <a:ext cx="1508760" cy="51663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150876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3898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0312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AF50"/>
                </a:solidFill>
                <a:latin typeface="Calibri"/>
              </a:rPr>
              <a:t>Pré-annotation
automatique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0175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Modèle semi-sup. prédit
un label + confiance
pour toutes les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374903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12" y="1371600"/>
            <a:ext cx="1508760" cy="51663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96912" y="1371600"/>
            <a:ext cx="150876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3898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210312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86AB"/>
                </a:solidFill>
                <a:latin typeface="Calibri"/>
              </a:rPr>
              <a:t>Sélection intelligente
(Active Learning)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30175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On envoie les images
les plus incertaines
à l'annotation humaine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74903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1371600"/>
            <a:ext cx="1508760" cy="51663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24544" y="1371600"/>
            <a:ext cx="1508760" cy="64008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13898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10312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Calibri"/>
              </a:rPr>
              <a:t>Ré-entraînement
itératif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0175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Le modèle s'améliore
à chaque nouvelle
vague de labels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1592" y="3749039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52176" y="1371600"/>
            <a:ext cx="1508760" cy="51663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52176" y="1371600"/>
            <a:ext cx="1508760" cy="64008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2176" y="1389888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43616" y="2103120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A1B9A"/>
                </a:solidFill>
                <a:latin typeface="Calibri"/>
              </a:rPr>
              <a:t>Déploiement
progressif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43616" y="3017520"/>
            <a:ext cx="1325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Généralisation et
contrôle qualité
continu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6035040"/>
            <a:ext cx="6492240" cy="411480"/>
          </a:xfrm>
          <a:prstGeom prst="roundRect">
            <a:avLst/>
          </a:prstGeom>
          <a:solidFill>
            <a:srgbClr val="2E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6099048"/>
            <a:ext cx="6309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86AB"/>
                </a:solidFill>
                <a:latin typeface="Calibri"/>
              </a:rPr>
              <a:t>But : maximiser la qualité avec le minimum de labels humains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Budget 5 000 € — Répartition concrète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62179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2834640"/>
              </a:tblGrid>
              <a:tr h="78638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Poste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Montant estimé (€)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Détails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Annotation humaine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3 000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≈ 300 000 à 400 000 images</a:t>
                      </a:r>
                    </a:p>
                    <a:p>
                      <a:r>
                        <a:t>à ~0,007 à 0,01 € / image *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Infrastructure GPU / Cloud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1 000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Entraînement, inférence,</a:t>
                      </a:r>
                    </a:p>
                    <a:p>
                      <a:r>
                        <a:t>stockage temporaire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Outils &amp; gestion projet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600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Label Studio, scripts, suivi,</a:t>
                      </a:r>
                    </a:p>
                    <a:p>
                      <a:r>
                        <a:t>contrôle qualité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Marge &amp; imprévus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</a:rPr>
                        <a:t>Sécurité budget</a:t>
                      </a:r>
                    </a:p>
                  </a:txBody>
                  <a:tcPr>
                    <a:solidFill>
                      <a:srgbClr val="1F3A6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11480" y="5349240"/>
            <a:ext cx="6217920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413248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Total  —  5 000 €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0" y="128016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0350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CC2"/>
                </a:solidFill>
                <a:latin typeface="Calibri"/>
              </a:rPr>
              <a:t>* 0,007 à 0,01 € / image possible uniquement avec un workflow pré-annotation automatique + validation humaine (pas annotation from scratch)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Faisabilité &amp; Conditions de réussite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01168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3200400" cy="2286000"/>
          </a:xfrm>
          <a:prstGeom prst="roundRect">
            <a:avLst/>
          </a:prstGeom>
          <a:solidFill>
            <a:srgbClr val="0D3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86AB"/>
                </a:solidFill>
                <a:latin typeface="Calibri"/>
              </a:rPr>
              <a:t>Est-ce faisable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659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CAF50"/>
                </a:solidFill>
                <a:latin typeface="Calibri"/>
              </a:rPr>
              <a:t>OUI,
sous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371600"/>
            <a:ext cx="8229600" cy="2286000"/>
          </a:xfrm>
          <a:prstGeom prst="roundRect">
            <a:avLst/>
          </a:prstGeom>
          <a:solidFill>
            <a:srgbClr val="1F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Conditions critiques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Données représentatives et diversifiées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Qualité minimale des pré-annotations (modèle de départ fiable)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346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Boucle active learning bien calibrée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• Contrôle qualité médical strict (audit radiologique)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40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AB"/>
                </a:solidFill>
                <a:latin typeface="Calibri"/>
              </a:rPr>
              <a:t>Bénéfices attendus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89120"/>
            <a:ext cx="2743200" cy="15087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1005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17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Coût réduit
de 50 à 70 %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389120"/>
            <a:ext cx="2743200" cy="15087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462272"/>
            <a:ext cx="1005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17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Qualité élevée
(rappel prioritaire)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89120"/>
            <a:ext cx="2743200" cy="15087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462272"/>
            <a:ext cx="1005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617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Scalabilité
industrielle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389120"/>
            <a:ext cx="2743200" cy="1508760"/>
          </a:xfrm>
          <a:prstGeom prst="roundRect">
            <a:avLst/>
          </a:prstGeom>
          <a:solidFill>
            <a:srgbClr val="1F3A60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4462272"/>
            <a:ext cx="1005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46177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Impact clinique
positif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6080760"/>
            <a:ext cx="11612880" cy="59436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1447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Avec une stratégie semi-supervisée + active learning, traiter 4 M d'images pour 5 000 € est réaliste et pertinent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